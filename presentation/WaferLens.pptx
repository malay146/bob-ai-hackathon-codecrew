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378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0:00-0:15 — WaferLens. We help fab process engineers find out why wafers fail, and which batches will fail next. Team CodeCrew, AI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0:15-0:50 — At 3 and 5 nanometre nodes a one percent yield drop costs tens of millions a month. The cause is buried in 590 anonymised sensor readings per lot. Engineers spend weeks cross-referencing them by hand, and they only start looking after the batch has already failed. So they're always debugging the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0:50-1:35 — WaferLens answers that question two ways. On the left, sensor data: we correlate all 590 sensors against failure across 1,567 real lots, then rank the probable causes for any one lot by how far it deviates from the healthy baseline, each with a corrective action. It's plain statistics, so every number is explainable. On the right, the defect image itself: a CNN we trained from scratch on the WM-811K wafer map dataset classifies eight failure patterns at 88.3% accuracy, running entirely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2:15-2:45 — So: 1,567 real lots analysed, eight defect patterns classified, seven tools exposed to Bob. What used to take an engineer weeks of cross-referencing is now one ranked answer with a recommended action. Happy to show it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WaferLens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yield root cause &amp; defect pattern analyser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CodeCrew   ·   Track: AI   ·   Bob AI Innovation Hackathon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84264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48856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13448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78040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42632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507224" y="108813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355080" y="125272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19672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84264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48856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013448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78040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42632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507224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71816" y="125272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836408" y="125272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90488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355080" y="141732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519672" y="141732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684264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48856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013448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178040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42632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507224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671816" y="141732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836408" y="141732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001000" y="141732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025896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90488" y="158191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55080" y="158191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9672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84264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48856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13448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178040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342632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507224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671816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836408" y="158191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01000" y="158191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65592" y="158191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861304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025896" y="174650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190488" y="174650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355080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519672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684264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848856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013448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178040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342632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507224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671816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836408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8001000" y="174650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8165592" y="174650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330184" y="174650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5861304" y="191109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025896" y="191109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190488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355080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519672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684264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848856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013448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178040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342632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507224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671816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7836408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8001000" y="191109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8165592" y="191109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330184" y="191109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5696712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5861304" y="207568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025896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6190488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6355080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519672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684264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848856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7013448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7178040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342632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507224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671816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7836408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8001000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8165592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8330184" y="207568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8494776" y="207568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5696712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5861304" y="224028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6025896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6190488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6355080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519672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684264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6848856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7013448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7178040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7342632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7507224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7671816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7836408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8001000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8165592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8330184" y="224028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8494776" y="224028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5696712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5861304" y="240487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6025896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6190488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6355080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6519672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6684264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6848856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7013448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7178040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7342632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7507224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7671816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7836408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8001000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8165592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8330184" y="240487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8494776" y="240487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5696712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5861304" y="256946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6025896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6190488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6355080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6519672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6684264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6848856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7013448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7178040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7342632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7507224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7671816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7836408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8001000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8165592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8330184" y="256946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8494776" y="256946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5696712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5861304" y="273405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6025896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6190488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6355080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6519672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6684264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6848856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7013448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178040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342632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7507224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7671816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7836408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8001000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8165592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8330184" y="273405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8494776" y="273405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5696712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5861304" y="289864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6025896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6190488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6355080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6519672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6684264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6848856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7013448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7178040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7342632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7507224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7671816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7836408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8001000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8165592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8330184" y="289864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8494776" y="289864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5861304" y="306324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6025896" y="306324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6190488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6355080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6519672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6684264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6848856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7013448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7178040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7342632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7507224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7671816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7836408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8001000" y="306324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8165592" y="306324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8330184" y="3063240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5861304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6025896" y="322783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6190488" y="322783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6355080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6519672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6684264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6848856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7013448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7178040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7342632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7507224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7671816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7836408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8001000" y="322783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8165592" y="3227832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8330184" y="3227832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6025896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6190488" y="339242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6355080" y="339242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6519672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6684264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6848856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7013448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7178040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7342632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7507224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7671816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7836408" y="339242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8001000" y="3392424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8165592" y="3392424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6190488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6355080" y="355701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6519672" y="355701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6684264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6848856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7013448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7178040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7342632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7507224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7671816" y="355701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7836408" y="3557016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8001000" y="3557016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6355080" y="372160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6519672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6684264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6848856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7013448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7178040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7342632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2" name="Shape 250"/>
          <p:cNvSpPr/>
          <p:nvPr/>
        </p:nvSpPr>
        <p:spPr>
          <a:xfrm>
            <a:off x="7507224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7671816" y="3721608"/>
            <a:ext cx="134965" cy="134965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4" name="Shape 252"/>
          <p:cNvSpPr/>
          <p:nvPr/>
        </p:nvSpPr>
        <p:spPr>
          <a:xfrm>
            <a:off x="7836408" y="3721608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5" name="Shape 253"/>
          <p:cNvSpPr/>
          <p:nvPr/>
        </p:nvSpPr>
        <p:spPr>
          <a:xfrm>
            <a:off x="6684264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6" name="Shape 254"/>
          <p:cNvSpPr/>
          <p:nvPr/>
        </p:nvSpPr>
        <p:spPr>
          <a:xfrm>
            <a:off x="6848856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7013448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8" name="Shape 256"/>
          <p:cNvSpPr/>
          <p:nvPr/>
        </p:nvSpPr>
        <p:spPr>
          <a:xfrm>
            <a:off x="7178040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9" name="Shape 257"/>
          <p:cNvSpPr/>
          <p:nvPr/>
        </p:nvSpPr>
        <p:spPr>
          <a:xfrm>
            <a:off x="7342632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0" name="Shape 258"/>
          <p:cNvSpPr/>
          <p:nvPr/>
        </p:nvSpPr>
        <p:spPr>
          <a:xfrm>
            <a:off x="7507224" y="3886200"/>
            <a:ext cx="134965" cy="134965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1% yield drop costs tens of millions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888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04672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6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per wafer lot, all anonymised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46888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547872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cross-referencing them by hand to find one root cause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46888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91072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6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has already run — when the problem is found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are debugging yesterday's failures instead of preventing tomorrow's.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ask why a wafer failed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297180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155448" cy="15544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78992" y="1536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47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root causes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all 590 sensors against failure across 1,567 real lots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probable causes by deviation from the healthy baseline, with a corrective action for each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statistics — every number is explainable, no black box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297180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83480" y="1572768"/>
            <a:ext cx="155448" cy="155448"/>
          </a:xfrm>
          <a:prstGeom prst="ellipse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239512" y="1536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8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IMAGES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47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classification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37744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trained from scratch on WM-811K wafer maps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failure patterns — Center, Donut, Edge-Ring, Scratch and more — at 88.3% test accuracy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browser, no server round-trip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land in one dashboard, and both answer the same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of cross-referencing,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replaced by one ranked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1,567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wafer lots analysed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624328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624328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patterns classified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next  ·  github.com/Malay146/bob-ai-hackathon-CodeCrew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31736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178040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24344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70648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616952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63256" y="107899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739128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85432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31736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178040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24344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70648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16952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63256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09560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55864" y="122529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92824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39128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885432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031736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78040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24344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70648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616952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763256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909560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055864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02168" y="137160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46520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592824" y="1517904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739128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885432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31736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178040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324344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470648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616952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763256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909560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055864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202168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348472" y="151790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00216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46520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92824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739128" y="1664208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885432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031736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178040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324344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470648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616952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763256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909560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055864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202168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8348472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494776" y="166420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300216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446520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6592824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739128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885432" y="1810512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031736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178040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7324344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470648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616952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763256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909560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8055864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8202168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8348472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8494776" y="181051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153912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300216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446520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6592824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6739128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6885432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031736" y="1956816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178040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7324344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7470648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7616952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7763256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7909560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8055864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8202168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8348472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8494776" y="195681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6153912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300216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446520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6592824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6739128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6885432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7031736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7178040" y="2103120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7324344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7470648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7616952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7763256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7909560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8055864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8202168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8348472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8494776" y="210312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6153912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6300216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6446520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6592824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6739128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6885432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7031736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7178040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7324344" y="2249424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7470648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7616952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7763256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7909560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8055864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8202168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8348472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8494776" y="224942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6153912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6300216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6446520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6592824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6739128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6885432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7031736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7178040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7324344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7470648" y="2395728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7616952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7763256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7909560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8055864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8202168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8348472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8494776" y="239572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6153912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6300216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6446520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6592824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6739128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6885432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7031736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7178040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324344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470648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7616952" y="2542032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7763256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7909560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8055864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8202168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8348472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8494776" y="254203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6153912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6300216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6446520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6592824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6739128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6885432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7031736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7178040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7324344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7470648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7616952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7763256" y="2688336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7909560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8055864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8202168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8348472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8494776" y="268833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6300216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6446520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6592824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6739128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6885432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7031736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7178040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7324344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7470648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7616952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7763256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7909560" y="2834640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8055864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8202168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8348472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8494776" y="2834640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6300216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6446520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6592824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6739128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6885432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7031736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7178040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7324344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7470648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7616952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7763256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7909560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8055864" y="2980944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8202168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8348472" y="2980944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6446520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6592824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6739128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6885432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7031736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7178040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7324344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7470648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7616952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7763256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7909560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8055864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8202168" y="3127248"/>
            <a:ext cx="119969" cy="119969"/>
          </a:xfrm>
          <a:prstGeom prst="rect">
            <a:avLst/>
          </a:prstGeom>
          <a:solidFill>
            <a:srgbClr val="E86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8348472" y="3127248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6592824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6739128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6885432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7031736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7178040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7324344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7470648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7616952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7763256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7909560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8055864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8202168" y="3273552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6739128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6885432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7031736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7178040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7324344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7470648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7616952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7763256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7909560" y="3419856"/>
            <a:ext cx="119969" cy="119969"/>
          </a:xfrm>
          <a:prstGeom prst="rect">
            <a:avLst/>
          </a:prstGeom>
          <a:solidFill>
            <a:srgbClr val="22344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On-screen Show (16:9)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WaferLens</dc:title>
  <dc:subject>PptxGenJS Presentation</dc:subject>
  <dc:creator>Team CodeCrew</dc:creator>
  <cp:lastModifiedBy>Tirth Sorathia</cp:lastModifiedBy>
  <cp:revision>2</cp:revision>
  <dcterms:created xsi:type="dcterms:W3CDTF">2026-09-19T08:07:19Z</dcterms:created>
  <dcterms:modified xsi:type="dcterms:W3CDTF">2026-09-19T08:10:28Z</dcterms:modified>
</cp:coreProperties>
</file>